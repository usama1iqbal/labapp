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1" r:id="rId4"/>
    <p:sldId id="258" r:id="rId5"/>
    <p:sldId id="259" r:id="rId6"/>
    <p:sldId id="260" r:id="rId7"/>
    <p:sldId id="28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7" r:id="rId20"/>
    <p:sldId id="272" r:id="rId21"/>
    <p:sldId id="273" r:id="rId22"/>
    <p:sldId id="274" r:id="rId23"/>
    <p:sldId id="278" r:id="rId24"/>
    <p:sldId id="276" r:id="rId25"/>
    <p:sldId id="279" r:id="rId26"/>
  </p:sldIdLst>
  <p:sldSz cx="18288000" cy="10287000"/>
  <p:notesSz cx="6858000" cy="9144000"/>
  <p:embeddedFontLst>
    <p:embeddedFont>
      <p:font typeface="Canva Sans" panose="020B0604020202020204" charset="0"/>
      <p:regular r:id="rId28"/>
    </p:embeddedFont>
    <p:embeddedFont>
      <p:font typeface="Canva Sans Bold" panose="020B0604020202020204" charset="0"/>
      <p:regular r:id="rId29"/>
    </p:embeddedFont>
    <p:embeddedFont>
      <p:font typeface="Congenial Black" panose="02000503040000020004" pitchFamily="2" charset="0"/>
      <p:bold r:id="rId30"/>
      <p:boldItalic r:id="rId31"/>
    </p:embeddedFont>
    <p:embeddedFont>
      <p:font typeface="Darker Grotesque" panose="020B0604020202020204" charset="0"/>
      <p:regular r:id="rId32"/>
    </p:embeddedFont>
    <p:embeddedFont>
      <p:font typeface="Public Sans" panose="020B0604020202020204" charset="0"/>
      <p:regular r:id="rId33"/>
    </p:embeddedFont>
    <p:embeddedFont>
      <p:font typeface="Public Sans Bold" panose="020B0604020202020204" charset="0"/>
      <p:regular r:id="rId34"/>
    </p:embeddedFont>
    <p:embeddedFont>
      <p:font typeface="Public Sans Bold Italics" panose="020B0604020202020204" charset="0"/>
      <p:regular r:id="rId35"/>
    </p:embeddedFont>
    <p:embeddedFont>
      <p:font typeface="Public Sans Italics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4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76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C573A-6870-4E25-9FD6-96508310A4B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8443B-AE35-40AE-9FEE-D760BE26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3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443B-AE35-40AE-9FEE-D760BE2649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5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443B-AE35-40AE-9FEE-D760BE2649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5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svg"/><Relationship Id="rId10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7.svg"/><Relationship Id="rId7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7.svg"/><Relationship Id="rId7" Type="http://schemas.openxmlformats.org/officeDocument/2006/relationships/image" Target="../media/image3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svg"/><Relationship Id="rId10" Type="http://schemas.openxmlformats.org/officeDocument/2006/relationships/image" Target="../media/image41.png"/><Relationship Id="rId4" Type="http://schemas.openxmlformats.org/officeDocument/2006/relationships/image" Target="../media/image9.png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8.svg"/><Relationship Id="rId7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svg"/><Relationship Id="rId7" Type="http://schemas.openxmlformats.org/officeDocument/2006/relationships/image" Target="../media/image4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3.png"/><Relationship Id="rId5" Type="http://schemas.openxmlformats.org/officeDocument/2006/relationships/image" Target="../media/image8.svg"/><Relationship Id="rId10" Type="http://schemas.openxmlformats.org/officeDocument/2006/relationships/image" Target="../media/image52.png"/><Relationship Id="rId4" Type="http://schemas.openxmlformats.org/officeDocument/2006/relationships/image" Target="../media/image7.png"/><Relationship Id="rId9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74756" y="-2584442"/>
            <a:ext cx="11842742" cy="11842742"/>
          </a:xfrm>
          <a:custGeom>
            <a:avLst/>
            <a:gdLst/>
            <a:ahLst/>
            <a:cxnLst/>
            <a:rect l="l" t="t" r="r" b="b"/>
            <a:pathLst>
              <a:path w="11842742" h="11842742">
                <a:moveTo>
                  <a:pt x="0" y="0"/>
                </a:moveTo>
                <a:lnTo>
                  <a:pt x="11842743" y="0"/>
                </a:lnTo>
                <a:lnTo>
                  <a:pt x="11842743" y="11842742"/>
                </a:lnTo>
                <a:lnTo>
                  <a:pt x="0" y="11842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69594" y="28737"/>
            <a:ext cx="11842742" cy="11842742"/>
          </a:xfrm>
          <a:custGeom>
            <a:avLst/>
            <a:gdLst/>
            <a:ahLst/>
            <a:cxnLst/>
            <a:rect l="l" t="t" r="r" b="b"/>
            <a:pathLst>
              <a:path w="11842742" h="11842742">
                <a:moveTo>
                  <a:pt x="0" y="0"/>
                </a:moveTo>
                <a:lnTo>
                  <a:pt x="11842742" y="0"/>
                </a:lnTo>
                <a:lnTo>
                  <a:pt x="11842742" y="11842742"/>
                </a:lnTo>
                <a:lnTo>
                  <a:pt x="0" y="118427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679017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869847" y="7132355"/>
            <a:ext cx="6389453" cy="2125945"/>
          </a:xfrm>
          <a:custGeom>
            <a:avLst/>
            <a:gdLst/>
            <a:ahLst/>
            <a:cxnLst/>
            <a:rect l="l" t="t" r="r" b="b"/>
            <a:pathLst>
              <a:path w="6389453" h="2125945">
                <a:moveTo>
                  <a:pt x="0" y="0"/>
                </a:moveTo>
                <a:lnTo>
                  <a:pt x="6389453" y="0"/>
                </a:lnTo>
                <a:lnTo>
                  <a:pt x="6389453" y="2125945"/>
                </a:lnTo>
                <a:lnTo>
                  <a:pt x="0" y="21259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9600" y="1770384"/>
            <a:ext cx="16649700" cy="3218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600" dirty="0"/>
              <a:t>Health: FHIR &amp; Hl7 </a:t>
            </a:r>
            <a:r>
              <a:rPr lang="en-US" sz="9600"/>
              <a:t>Processing Engine </a:t>
            </a:r>
            <a:r>
              <a:rPr lang="en-US" sz="9600" dirty="0"/>
              <a:t>with clients simulators</a:t>
            </a:r>
            <a:endParaRPr lang="en-US" sz="9200" b="1" dirty="0">
              <a:solidFill>
                <a:srgbClr val="3C4B0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709888" y="6641182"/>
            <a:ext cx="1086822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3C4B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 E R V I S O R :</a:t>
            </a:r>
            <a:r>
              <a:rPr lang="en-US" sz="5199" dirty="0">
                <a:solidFill>
                  <a:srgbClr val="3C4B0A"/>
                </a:solidFill>
                <a:latin typeface="Canva Sans"/>
                <a:ea typeface="Canva Sans"/>
                <a:cs typeface="Canva Sans"/>
                <a:sym typeface="Canva Sans"/>
              </a:rPr>
              <a:t>Sir Shahid Jamil</a:t>
            </a:r>
            <a:r>
              <a:rPr lang="en-US" sz="5199" b="1" dirty="0">
                <a:solidFill>
                  <a:srgbClr val="3C4B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34116" y="-1200234"/>
            <a:ext cx="9668232" cy="9668232"/>
          </a:xfrm>
          <a:custGeom>
            <a:avLst/>
            <a:gdLst/>
            <a:ahLst/>
            <a:cxnLst/>
            <a:rect l="l" t="t" r="r" b="b"/>
            <a:pathLst>
              <a:path w="9668232" h="9668232">
                <a:moveTo>
                  <a:pt x="0" y="0"/>
                </a:moveTo>
                <a:lnTo>
                  <a:pt x="9668232" y="0"/>
                </a:lnTo>
                <a:lnTo>
                  <a:pt x="9668232" y="9668232"/>
                </a:lnTo>
                <a:lnTo>
                  <a:pt x="0" y="9668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33902" y="-6626274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679017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629400" y="679017"/>
            <a:ext cx="7931717" cy="69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8"/>
              </a:lnSpc>
            </a:pPr>
            <a:r>
              <a:rPr lang="en-US" sz="41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Saad’s Screens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746E4-054E-684D-2C20-A2841D34149B}"/>
              </a:ext>
            </a:extLst>
          </p:cNvPr>
          <p:cNvSpPr txBox="1"/>
          <p:nvPr/>
        </p:nvSpPr>
        <p:spPr>
          <a:xfrm>
            <a:off x="6524180" y="1737458"/>
            <a:ext cx="4068580" cy="73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Login and </a:t>
            </a:r>
            <a:r>
              <a:rPr lang="en-US" sz="3600" dirty="0" err="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SignUp</a:t>
            </a:r>
            <a:endParaRPr lang="en-US" sz="3600" dirty="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7A0753-0947-0420-CAEE-C57ACE85C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58" y="136062"/>
            <a:ext cx="4629150" cy="10287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911948-2601-B434-DF79-19DC6224C9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6810" y="136062"/>
            <a:ext cx="4629150" cy="10287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0AC7E2-E8B6-25BB-3E6D-99DF56932E31}"/>
              </a:ext>
            </a:extLst>
          </p:cNvPr>
          <p:cNvSpPr txBox="1"/>
          <p:nvPr/>
        </p:nvSpPr>
        <p:spPr>
          <a:xfrm>
            <a:off x="6248400" y="3291896"/>
            <a:ext cx="5181600" cy="141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These are the same in all the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E3592-0C14-D3D5-617D-26E84E02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A233EF-C739-BE50-152A-2445D2A3E85F}"/>
              </a:ext>
            </a:extLst>
          </p:cNvPr>
          <p:cNvSpPr/>
          <p:nvPr/>
        </p:nvSpPr>
        <p:spPr>
          <a:xfrm>
            <a:off x="-4834116" y="-1200234"/>
            <a:ext cx="9668232" cy="9668232"/>
          </a:xfrm>
          <a:custGeom>
            <a:avLst/>
            <a:gdLst/>
            <a:ahLst/>
            <a:cxnLst/>
            <a:rect l="l" t="t" r="r" b="b"/>
            <a:pathLst>
              <a:path w="9668232" h="9668232">
                <a:moveTo>
                  <a:pt x="0" y="0"/>
                </a:moveTo>
                <a:lnTo>
                  <a:pt x="9668232" y="0"/>
                </a:lnTo>
                <a:lnTo>
                  <a:pt x="9668232" y="9668232"/>
                </a:lnTo>
                <a:lnTo>
                  <a:pt x="0" y="9668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7798473-4EA3-6F19-2EA5-4B06DB87F22A}"/>
              </a:ext>
            </a:extLst>
          </p:cNvPr>
          <p:cNvSpPr/>
          <p:nvPr/>
        </p:nvSpPr>
        <p:spPr>
          <a:xfrm>
            <a:off x="-5833902" y="-6626274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25DDAB4-3AF7-0365-B77C-6F35EB3320A0}"/>
              </a:ext>
            </a:extLst>
          </p:cNvPr>
          <p:cNvSpPr/>
          <p:nvPr/>
        </p:nvSpPr>
        <p:spPr>
          <a:xfrm flipV="1">
            <a:off x="1028700" y="679017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47AE0D5-69E5-8C84-C442-5E5B4561642E}"/>
              </a:ext>
            </a:extLst>
          </p:cNvPr>
          <p:cNvSpPr txBox="1"/>
          <p:nvPr/>
        </p:nvSpPr>
        <p:spPr>
          <a:xfrm>
            <a:off x="6629400" y="679017"/>
            <a:ext cx="7931717" cy="69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8"/>
              </a:lnSpc>
            </a:pPr>
            <a:r>
              <a:rPr lang="en-US" sz="41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Saad’s Screens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3A52C-5036-33A7-A4B3-E1E2DF818A5B}"/>
              </a:ext>
            </a:extLst>
          </p:cNvPr>
          <p:cNvSpPr txBox="1"/>
          <p:nvPr/>
        </p:nvSpPr>
        <p:spPr>
          <a:xfrm>
            <a:off x="6526678" y="1315748"/>
            <a:ext cx="4068580" cy="73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Engine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E6B322-5D69-5890-3893-E7EF39025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47" y="2428672"/>
            <a:ext cx="18061953" cy="789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7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1028700" y="679017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030200" y="800104"/>
            <a:ext cx="4515758" cy="9296391"/>
          </a:xfrm>
          <a:custGeom>
            <a:avLst/>
            <a:gdLst/>
            <a:ahLst/>
            <a:cxnLst/>
            <a:rect l="l" t="t" r="r" b="b"/>
            <a:pathLst>
              <a:path w="2970485" h="6564432">
                <a:moveTo>
                  <a:pt x="0" y="0"/>
                </a:moveTo>
                <a:lnTo>
                  <a:pt x="2970485" y="0"/>
                </a:lnTo>
                <a:lnTo>
                  <a:pt x="2970485" y="6564432"/>
                </a:lnTo>
                <a:lnTo>
                  <a:pt x="0" y="6564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94" t="-1617" b="-42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78158" y="2198368"/>
            <a:ext cx="5387357" cy="65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Mockups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758" y="5626099"/>
            <a:ext cx="6559886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This initial screen captures new user detail(Name, Email, Password) and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and allows them to select their Department to define their role and permissions within the app.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559A6D-AB59-CEF1-C5F6-8BBA24A9F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800104"/>
            <a:ext cx="4571428" cy="10158730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048832B3-B794-4CF8-DED2-04BC3B9166B2}"/>
              </a:ext>
            </a:extLst>
          </p:cNvPr>
          <p:cNvSpPr txBox="1"/>
          <p:nvPr/>
        </p:nvSpPr>
        <p:spPr>
          <a:xfrm>
            <a:off x="278158" y="4451348"/>
            <a:ext cx="5387357" cy="13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Registration &amp; Login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37190" y="-8781807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780494" y="2188490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81000" y="800100"/>
            <a:ext cx="4191000" cy="8839200"/>
          </a:xfrm>
          <a:custGeom>
            <a:avLst/>
            <a:gdLst/>
            <a:ahLst/>
            <a:cxnLst/>
            <a:rect l="l" t="t" r="r" b="b"/>
            <a:pathLst>
              <a:path w="2860631" h="6356958">
                <a:moveTo>
                  <a:pt x="0" y="0"/>
                </a:moveTo>
                <a:lnTo>
                  <a:pt x="2860631" y="0"/>
                </a:lnTo>
                <a:lnTo>
                  <a:pt x="286063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58600" y="2400300"/>
            <a:ext cx="4970378" cy="240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4"/>
              </a:lnSpc>
            </a:pPr>
            <a:r>
              <a:rPr lang="en-US" sz="6871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Patient Management &amp; History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12754" y="5572125"/>
            <a:ext cx="7956553" cy="2458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1.Patient List provides a centralized, searchable directory for all patient records.</a:t>
            </a:r>
          </a:p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2. Visiting Notes (e.g., Emergency Visit, Follow-up Visit).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3.Searching of Referred Doctor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0" y="424548"/>
            <a:ext cx="4587578" cy="7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Doctor Screens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AC6627-4BCF-67FE-DEB3-F61DF57E2B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91" y="38100"/>
            <a:ext cx="4222044" cy="1036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0014" y="-6602658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274387" y="4443927"/>
            <a:ext cx="1324681" cy="1344244"/>
            <a:chOff x="0" y="0"/>
            <a:chExt cx="873963" cy="8868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3963" cy="886870"/>
            </a:xfrm>
            <a:custGeom>
              <a:avLst/>
              <a:gdLst/>
              <a:ahLst/>
              <a:cxnLst/>
              <a:rect l="l" t="t" r="r" b="b"/>
              <a:pathLst>
                <a:path w="873963" h="886870">
                  <a:moveTo>
                    <a:pt x="436982" y="0"/>
                  </a:moveTo>
                  <a:cubicBezTo>
                    <a:pt x="195643" y="0"/>
                    <a:pt x="0" y="198533"/>
                    <a:pt x="0" y="443435"/>
                  </a:cubicBezTo>
                  <a:cubicBezTo>
                    <a:pt x="0" y="688337"/>
                    <a:pt x="195643" y="886870"/>
                    <a:pt x="436982" y="886870"/>
                  </a:cubicBezTo>
                  <a:cubicBezTo>
                    <a:pt x="678320" y="886870"/>
                    <a:pt x="873963" y="688337"/>
                    <a:pt x="873963" y="443435"/>
                  </a:cubicBezTo>
                  <a:cubicBezTo>
                    <a:pt x="873963" y="198533"/>
                    <a:pt x="678320" y="0"/>
                    <a:pt x="4369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C4B0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1934" y="-12106"/>
              <a:ext cx="710095" cy="8158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999"/>
                </a:lnSpc>
              </a:pPr>
              <a:r>
                <a:rPr lang="en-US" sz="4999" dirty="0">
                  <a:solidFill>
                    <a:srgbClr val="3C4B0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29413" y="888567"/>
            <a:ext cx="6976031" cy="170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60"/>
              </a:lnSpc>
            </a:pPr>
            <a:r>
              <a:rPr lang="en-US" sz="7178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Visit Note Details &amp; Lab Report Details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08115" y="6183914"/>
            <a:ext cx="1324681" cy="1344244"/>
            <a:chOff x="0" y="0"/>
            <a:chExt cx="873963" cy="8868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73963" cy="886870"/>
            </a:xfrm>
            <a:custGeom>
              <a:avLst/>
              <a:gdLst/>
              <a:ahLst/>
              <a:cxnLst/>
              <a:rect l="l" t="t" r="r" b="b"/>
              <a:pathLst>
                <a:path w="873963" h="886870">
                  <a:moveTo>
                    <a:pt x="436982" y="0"/>
                  </a:moveTo>
                  <a:cubicBezTo>
                    <a:pt x="195643" y="0"/>
                    <a:pt x="0" y="198533"/>
                    <a:pt x="0" y="443435"/>
                  </a:cubicBezTo>
                  <a:cubicBezTo>
                    <a:pt x="0" y="688337"/>
                    <a:pt x="195643" y="886870"/>
                    <a:pt x="436982" y="886870"/>
                  </a:cubicBezTo>
                  <a:cubicBezTo>
                    <a:pt x="678320" y="886870"/>
                    <a:pt x="873963" y="688337"/>
                    <a:pt x="873963" y="443435"/>
                  </a:cubicBezTo>
                  <a:cubicBezTo>
                    <a:pt x="873963" y="198533"/>
                    <a:pt x="678320" y="0"/>
                    <a:pt x="4369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C4B0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934" y="-12106"/>
              <a:ext cx="710095" cy="8158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999"/>
                </a:lnSpc>
              </a:pPr>
              <a:r>
                <a:rPr lang="en-US" sz="4999" dirty="0">
                  <a:solidFill>
                    <a:srgbClr val="3C4B0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6284799" y="1640300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1028700" y="679017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750776" y="4698854"/>
            <a:ext cx="6976031" cy="834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Records chronologically track Past Consultations and Treatment Plan status.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50776" y="6390151"/>
            <a:ext cx="7033738" cy="833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Provides quick access to Vital Lab Results (e.g., HB, WBC, RBC…) and their details accordingly.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C9A942-6A41-3CCE-4FA1-23EA95DC92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2" y="655184"/>
            <a:ext cx="3910761" cy="96079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E3AB82-2DB9-F2DF-BAE0-F00D786699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154" y="655184"/>
            <a:ext cx="4816517" cy="9607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9830A-C6BD-BDDA-A9F6-47AFB08B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C7C424-370A-5843-210D-6241EDDB7793}"/>
              </a:ext>
            </a:extLst>
          </p:cNvPr>
          <p:cNvSpPr/>
          <p:nvPr/>
        </p:nvSpPr>
        <p:spPr>
          <a:xfrm>
            <a:off x="10280014" y="-6602658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80C3927-5D51-440E-14EA-7CC6B52CB990}"/>
              </a:ext>
            </a:extLst>
          </p:cNvPr>
          <p:cNvSpPr txBox="1"/>
          <p:nvPr/>
        </p:nvSpPr>
        <p:spPr>
          <a:xfrm>
            <a:off x="9329413" y="888567"/>
            <a:ext cx="6976031" cy="86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60"/>
              </a:lnSpc>
            </a:pPr>
            <a:r>
              <a:rPr lang="en-US" sz="7178" b="1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Add Visit Notes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295E1B5-FD12-C0D4-B837-0DA1BCCFE66E}"/>
              </a:ext>
            </a:extLst>
          </p:cNvPr>
          <p:cNvSpPr/>
          <p:nvPr/>
        </p:nvSpPr>
        <p:spPr>
          <a:xfrm>
            <a:off x="-6284799" y="1671881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063A6E73-DD0B-BA44-AF1B-BA9283A49A7C}"/>
              </a:ext>
            </a:extLst>
          </p:cNvPr>
          <p:cNvSpPr/>
          <p:nvPr/>
        </p:nvSpPr>
        <p:spPr>
          <a:xfrm flipV="1">
            <a:off x="914400" y="19050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80D81BB-E6BD-1389-431F-A48CBDAFA6D6}"/>
              </a:ext>
            </a:extLst>
          </p:cNvPr>
          <p:cNvSpPr txBox="1"/>
          <p:nvPr/>
        </p:nvSpPr>
        <p:spPr>
          <a:xfrm>
            <a:off x="9534848" y="2477255"/>
            <a:ext cx="7577673" cy="833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Take note data like, title, complaint, diagnosis, consultation notes, lab server and amount.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031105-B2C9-2EB9-81EE-FC61D01D03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464" y="1754830"/>
            <a:ext cx="4571428" cy="84952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5A16BE3-A156-0055-FDE1-B9DC16A694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8" y="851716"/>
            <a:ext cx="4571428" cy="63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7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 rot="-5400000">
            <a:off x="5392606" y="517635"/>
            <a:ext cx="2144581" cy="4242876"/>
          </a:xfrm>
          <a:custGeom>
            <a:avLst/>
            <a:gdLst/>
            <a:ahLst/>
            <a:cxnLst/>
            <a:rect l="l" t="t" r="r" b="b"/>
            <a:pathLst>
              <a:path w="2144581" h="4242876">
                <a:moveTo>
                  <a:pt x="0" y="0"/>
                </a:moveTo>
                <a:lnTo>
                  <a:pt x="2144581" y="0"/>
                </a:lnTo>
                <a:lnTo>
                  <a:pt x="2144581" y="4242876"/>
                </a:lnTo>
                <a:lnTo>
                  <a:pt x="0" y="4242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33400" y="1790700"/>
            <a:ext cx="4242877" cy="720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389"/>
              </a:lnSpc>
              <a:spcBef>
                <a:spcPct val="0"/>
              </a:spcBef>
            </a:pPr>
            <a:r>
              <a:rPr lang="en-US" sz="5987" b="1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Add Patient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9D5D81-0E9E-331A-40AF-EF09E35B17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0" y="3640682"/>
            <a:ext cx="4724635" cy="62338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0165AC-F036-4A83-9DA8-D52B561097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335" y="207535"/>
            <a:ext cx="4748665" cy="6885565"/>
          </a:xfrm>
          <a:prstGeom prst="rect">
            <a:avLst/>
          </a:prstGeom>
        </p:spPr>
      </p:pic>
      <p:sp>
        <p:nvSpPr>
          <p:cNvPr id="21" name="Subtitle 20">
            <a:extLst>
              <a:ext uri="{FF2B5EF4-FFF2-40B4-BE49-F238E27FC236}">
                <a16:creationId xmlns:a16="http://schemas.microsoft.com/office/drawing/2014/main" id="{D7B64836-E58C-C9EA-F520-9F57BD628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935282"/>
            <a:ext cx="7391400" cy="32656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3C4B0A"/>
                </a:solidFill>
              </a:rPr>
              <a:t>Add all the patient data here, including: Name, Date of birth, Gender ,NIC ,Phone, number ,Address ,Insurance details</a:t>
            </a:r>
          </a:p>
          <a:p>
            <a:endParaRPr lang="en-US" dirty="0">
              <a:solidFill>
                <a:srgbClr val="3C4B0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45195" y="2188490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041110" y="-4328246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148381" y="6939395"/>
            <a:ext cx="11586030" cy="11586030"/>
          </a:xfrm>
          <a:custGeom>
            <a:avLst/>
            <a:gdLst/>
            <a:ahLst/>
            <a:cxnLst/>
            <a:rect l="l" t="t" r="r" b="b"/>
            <a:pathLst>
              <a:path w="11586030" h="11586030">
                <a:moveTo>
                  <a:pt x="0" y="0"/>
                </a:moveTo>
                <a:lnTo>
                  <a:pt x="11586030" y="0"/>
                </a:lnTo>
                <a:lnTo>
                  <a:pt x="11586030" y="11586031"/>
                </a:lnTo>
                <a:lnTo>
                  <a:pt x="0" y="115860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924614" y="26670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25714" y="2680406"/>
            <a:ext cx="5937420" cy="957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Referral Information Hub</a:t>
            </a:r>
          </a:p>
          <a:p>
            <a:pPr marL="604521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Enhances internal networking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5714" y="869151"/>
            <a:ext cx="5937420" cy="172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6"/>
              </a:lnSpc>
              <a:spcBef>
                <a:spcPct val="0"/>
              </a:spcBef>
            </a:pPr>
            <a:r>
              <a:rPr lang="en-US" sz="7296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Profile &amp; Referral Network</a:t>
            </a:r>
            <a:r>
              <a:rPr lang="en-US" sz="7296" u="none" strike="noStrike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B1CD3-3E67-FB0F-6517-6A926C600E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9531"/>
            <a:ext cx="4038601" cy="100074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9FA41F-E4A2-31B9-A971-7EB8712BF1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4945" y="359068"/>
            <a:ext cx="4100269" cy="10984814"/>
          </a:xfrm>
          <a:prstGeom prst="rect">
            <a:avLst/>
          </a:prstGeom>
        </p:spPr>
      </p:pic>
      <p:sp>
        <p:nvSpPr>
          <p:cNvPr id="16" name="TextBox 8">
            <a:extLst>
              <a:ext uri="{FF2B5EF4-FFF2-40B4-BE49-F238E27FC236}">
                <a16:creationId xmlns:a16="http://schemas.microsoft.com/office/drawing/2014/main" id="{8B12196F-5196-AC73-065D-4D86882789D3}"/>
              </a:ext>
            </a:extLst>
          </p:cNvPr>
          <p:cNvSpPr txBox="1"/>
          <p:nvPr/>
        </p:nvSpPr>
        <p:spPr>
          <a:xfrm>
            <a:off x="9463879" y="4001726"/>
            <a:ext cx="3185321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60" lvl="1" algn="l">
              <a:lnSpc>
                <a:spcPts val="3920"/>
              </a:lnSpc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View Patient screen where you have to refer a patient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9EADCF-1536-47B6-5F76-B9FF4350B9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300" y="3729195"/>
            <a:ext cx="4509337" cy="65260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19088" y="1548978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307829" y="-6041110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679017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62426" y="876300"/>
            <a:ext cx="4724400" cy="8923184"/>
          </a:xfrm>
          <a:custGeom>
            <a:avLst/>
            <a:gdLst/>
            <a:ahLst/>
            <a:cxnLst/>
            <a:rect l="l" t="t" r="r" b="b"/>
            <a:pathLst>
              <a:path w="3696802" h="8215115">
                <a:moveTo>
                  <a:pt x="0" y="0"/>
                </a:moveTo>
                <a:lnTo>
                  <a:pt x="3696802" y="0"/>
                </a:lnTo>
                <a:lnTo>
                  <a:pt x="3696802" y="8215115"/>
                </a:lnTo>
                <a:lnTo>
                  <a:pt x="0" y="82151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286189" y="1046812"/>
            <a:ext cx="4886065" cy="141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3"/>
              </a:lnSpc>
              <a:spcBef>
                <a:spcPct val="0"/>
              </a:spcBef>
            </a:pPr>
            <a:r>
              <a:rPr lang="en-US" sz="6004" b="1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Patient Referred to doctor.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8800" y="2705100"/>
            <a:ext cx="3381338" cy="445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New Patient Intake</a:t>
            </a: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 Provides immediate context for new referrals by displaying the referring doctor's message, and giving some extra details.</a:t>
            </a:r>
          </a:p>
          <a:p>
            <a:pPr algn="l">
              <a:lnSpc>
                <a:spcPts val="3920"/>
              </a:lnSpc>
            </a:pPr>
            <a:endParaRPr lang="en-US" sz="2800" dirty="0">
              <a:solidFill>
                <a:srgbClr val="3C4B0A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6D7963-A879-EB2A-5B17-A8E5307215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764" y="778239"/>
            <a:ext cx="4056236" cy="9410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B93105-A096-825A-73F3-2201C7CD8E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6733" y="812165"/>
            <a:ext cx="4234815" cy="9410700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1E3F81F1-E08C-0E2C-B9D3-3BEDEAC878C8}"/>
              </a:ext>
            </a:extLst>
          </p:cNvPr>
          <p:cNvSpPr txBox="1"/>
          <p:nvPr/>
        </p:nvSpPr>
        <p:spPr>
          <a:xfrm>
            <a:off x="9448800" y="6919628"/>
            <a:ext cx="3975637" cy="2106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403"/>
              </a:lnSpc>
              <a:spcBef>
                <a:spcPct val="0"/>
              </a:spcBef>
            </a:pPr>
            <a:r>
              <a:rPr lang="en-US" sz="6004" b="1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Doctor’s Notification screen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69103" y="26670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450139" y="2565423"/>
            <a:ext cx="7268529" cy="429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Claim Status Tracking &amp; Action</a:t>
            </a:r>
          </a:p>
          <a:p>
            <a:pPr algn="l">
              <a:lnSpc>
                <a:spcPts val="3359"/>
              </a:lnSpc>
            </a:pPr>
            <a:endParaRPr lang="en-US" sz="3399" b="1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Work Queue </a:t>
            </a:r>
            <a:r>
              <a:rPr lang="en-US" sz="2799" b="1" dirty="0" err="1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Management</a:t>
            </a:r>
            <a:r>
              <a:rPr lang="en-US" sz="2799" dirty="0" err="1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:Lists</a:t>
            </a:r>
            <a:r>
              <a:rPr lang="en-US" sz="2799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 all pending claims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3C4B0A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Decision </a:t>
            </a:r>
            <a:r>
              <a:rPr lang="en-US" sz="2799" b="1" dirty="0" err="1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Gateway</a:t>
            </a:r>
            <a:r>
              <a:rPr lang="en-US" sz="2799" dirty="0" err="1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:Shows</a:t>
            </a:r>
            <a:r>
              <a:rPr lang="en-US" sz="2799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 the total coverage, remaining amount, and service details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3C4B0A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9333" y="647707"/>
            <a:ext cx="6679917" cy="1532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800" b="1" i="1" dirty="0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Health Insurance Scree</a:t>
            </a:r>
            <a:r>
              <a:rPr lang="en-US" sz="4800" b="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45BF42-D4D3-1A6B-160F-DE8816161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60" y="314658"/>
            <a:ext cx="4930641" cy="99297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257785-E937-620E-EBE7-14D06E72A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432124"/>
            <a:ext cx="4800028" cy="96533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88548" y="-7124950"/>
            <a:ext cx="11842742" cy="11842742"/>
          </a:xfrm>
          <a:custGeom>
            <a:avLst/>
            <a:gdLst/>
            <a:ahLst/>
            <a:cxnLst/>
            <a:rect l="l" t="t" r="r" b="b"/>
            <a:pathLst>
              <a:path w="11842742" h="11842742">
                <a:moveTo>
                  <a:pt x="0" y="0"/>
                </a:moveTo>
                <a:lnTo>
                  <a:pt x="11842742" y="0"/>
                </a:lnTo>
                <a:lnTo>
                  <a:pt x="11842742" y="11842742"/>
                </a:lnTo>
                <a:lnTo>
                  <a:pt x="0" y="11842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367136" y="-6925144"/>
            <a:ext cx="11842742" cy="11842742"/>
          </a:xfrm>
          <a:custGeom>
            <a:avLst/>
            <a:gdLst/>
            <a:ahLst/>
            <a:cxnLst/>
            <a:rect l="l" t="t" r="r" b="b"/>
            <a:pathLst>
              <a:path w="11842742" h="11842742">
                <a:moveTo>
                  <a:pt x="0" y="0"/>
                </a:moveTo>
                <a:lnTo>
                  <a:pt x="11842742" y="0"/>
                </a:lnTo>
                <a:lnTo>
                  <a:pt x="11842742" y="11842742"/>
                </a:lnTo>
                <a:lnTo>
                  <a:pt x="0" y="11842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34290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867400" y="1295400"/>
            <a:ext cx="11977756" cy="1085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87"/>
              </a:lnSpc>
              <a:spcBef>
                <a:spcPct val="0"/>
              </a:spcBef>
            </a:pPr>
            <a:r>
              <a:rPr lang="en-US" sz="8875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Initiating the Claim Process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2375" y="4260058"/>
            <a:ext cx="9736863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en-US" sz="3200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Comprehensive Data Input: </a:t>
            </a:r>
            <a:r>
              <a:rPr lang="en-US" sz="32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Collect all mandatory patient details (CNIC, Date of Birth, Phone)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33023" y="5781769"/>
            <a:ext cx="9736863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Financial Transparency: Captures the required Description of Services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6937" y="7165614"/>
            <a:ext cx="2802434" cy="53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Bronze</a:t>
            </a:r>
            <a:endParaRPr lang="en-US" sz="3299" dirty="0">
              <a:solidFill>
                <a:srgbClr val="3C4B0A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" name="Freeform 10"/>
          <p:cNvSpPr/>
          <p:nvPr/>
        </p:nvSpPr>
        <p:spPr>
          <a:xfrm rot="98331">
            <a:off x="10276187" y="7248617"/>
            <a:ext cx="482718" cy="483597"/>
          </a:xfrm>
          <a:custGeom>
            <a:avLst/>
            <a:gdLst/>
            <a:ahLst/>
            <a:cxnLst/>
            <a:rect l="l" t="t" r="r" b="b"/>
            <a:pathLst>
              <a:path w="482718" h="483597">
                <a:moveTo>
                  <a:pt x="0" y="0"/>
                </a:moveTo>
                <a:lnTo>
                  <a:pt x="482718" y="0"/>
                </a:lnTo>
                <a:lnTo>
                  <a:pt x="482718" y="483598"/>
                </a:lnTo>
                <a:lnTo>
                  <a:pt x="0" y="483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998253" y="7241705"/>
            <a:ext cx="1461095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100,000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44219" y="7699331"/>
            <a:ext cx="1820862" cy="53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Silver</a:t>
            </a:r>
          </a:p>
        </p:txBody>
      </p:sp>
      <p:sp>
        <p:nvSpPr>
          <p:cNvPr id="13" name="Freeform 13"/>
          <p:cNvSpPr/>
          <p:nvPr/>
        </p:nvSpPr>
        <p:spPr>
          <a:xfrm rot="98331">
            <a:off x="10276187" y="7745823"/>
            <a:ext cx="482718" cy="483597"/>
          </a:xfrm>
          <a:custGeom>
            <a:avLst/>
            <a:gdLst/>
            <a:ahLst/>
            <a:cxnLst/>
            <a:rect l="l" t="t" r="r" b="b"/>
            <a:pathLst>
              <a:path w="482718" h="483597">
                <a:moveTo>
                  <a:pt x="0" y="0"/>
                </a:moveTo>
                <a:lnTo>
                  <a:pt x="482718" y="0"/>
                </a:lnTo>
                <a:lnTo>
                  <a:pt x="482718" y="483597"/>
                </a:lnTo>
                <a:lnTo>
                  <a:pt x="0" y="483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982378" y="8278611"/>
            <a:ext cx="1476970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500,000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83706" y="8196537"/>
            <a:ext cx="2616994" cy="53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Golden</a:t>
            </a:r>
            <a:endParaRPr lang="en-US" sz="3299" dirty="0">
              <a:solidFill>
                <a:srgbClr val="3C4B0A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" name="Freeform 17"/>
          <p:cNvSpPr/>
          <p:nvPr/>
        </p:nvSpPr>
        <p:spPr>
          <a:xfrm rot="98331">
            <a:off x="10307516" y="8279541"/>
            <a:ext cx="482718" cy="483597"/>
          </a:xfrm>
          <a:custGeom>
            <a:avLst/>
            <a:gdLst/>
            <a:ahLst/>
            <a:cxnLst/>
            <a:rect l="l" t="t" r="r" b="b"/>
            <a:pathLst>
              <a:path w="482718" h="483597">
                <a:moveTo>
                  <a:pt x="0" y="0"/>
                </a:moveTo>
                <a:lnTo>
                  <a:pt x="482719" y="0"/>
                </a:lnTo>
                <a:lnTo>
                  <a:pt x="482719" y="483597"/>
                </a:lnTo>
                <a:lnTo>
                  <a:pt x="0" y="483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990215" y="7264430"/>
            <a:ext cx="1477169" cy="9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 300,000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0C2F6F-10EE-8206-5850-1408C3367E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39" y="564914"/>
            <a:ext cx="5054234" cy="9589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76775" y="327160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050187" y="-5759916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100442" y="2519889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32716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06668" y="1519444"/>
            <a:ext cx="4774283" cy="335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1"/>
              </a:lnSpc>
              <a:spcBef>
                <a:spcPct val="0"/>
              </a:spcBef>
            </a:pPr>
            <a:r>
              <a:rPr lang="en-US" sz="7202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Cla</a:t>
            </a:r>
            <a:r>
              <a:rPr lang="en-US" sz="7202" u="none" strike="noStrike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ims Verification and Status Tracking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263" y="5164175"/>
            <a:ext cx="6750444" cy="957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Claim List</a:t>
            </a: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 Show all customers with policy numbers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1552" y="6788995"/>
            <a:ext cx="6078758" cy="1457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Detailed Verification</a:t>
            </a: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 Displays comprehensive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 Claim Details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946C82-AC0C-44EE-AB98-DBE1FF8C9F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9505" y="327160"/>
            <a:ext cx="4532829" cy="10072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F0180-81C0-910E-93E9-F05F41A831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019" y="327160"/>
            <a:ext cx="5231746" cy="99048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D104DA-57A6-FE7C-4790-AEEA1CA88B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776" y="6700106"/>
            <a:ext cx="977778" cy="1777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4788595" y="5781835"/>
            <a:ext cx="1633929" cy="742695"/>
          </a:xfrm>
          <a:custGeom>
            <a:avLst/>
            <a:gdLst/>
            <a:ahLst/>
            <a:cxnLst/>
            <a:rect l="l" t="t" r="r" b="b"/>
            <a:pathLst>
              <a:path w="1633929" h="742695">
                <a:moveTo>
                  <a:pt x="0" y="742695"/>
                </a:moveTo>
                <a:lnTo>
                  <a:pt x="1633928" y="742695"/>
                </a:lnTo>
                <a:lnTo>
                  <a:pt x="1633928" y="0"/>
                </a:lnTo>
                <a:lnTo>
                  <a:pt x="0" y="0"/>
                </a:lnTo>
                <a:lnTo>
                  <a:pt x="0" y="7426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700" y="26670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 flipV="1">
            <a:off x="11303664" y="8272862"/>
            <a:ext cx="1823467" cy="828849"/>
          </a:xfrm>
          <a:custGeom>
            <a:avLst/>
            <a:gdLst/>
            <a:ahLst/>
            <a:cxnLst/>
            <a:rect l="l" t="t" r="r" b="b"/>
            <a:pathLst>
              <a:path w="1823467" h="828849">
                <a:moveTo>
                  <a:pt x="0" y="828849"/>
                </a:moveTo>
                <a:lnTo>
                  <a:pt x="1823467" y="828849"/>
                </a:lnTo>
                <a:lnTo>
                  <a:pt x="1823467" y="0"/>
                </a:lnTo>
                <a:lnTo>
                  <a:pt x="0" y="0"/>
                </a:lnTo>
                <a:lnTo>
                  <a:pt x="0" y="8288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818394" y="8033908"/>
            <a:ext cx="567726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b="1" dirty="0"/>
              <a:t>Main Worklist</a:t>
            </a:r>
            <a:r>
              <a:rPr lang="en-US" sz="3000" dirty="0"/>
              <a:t>: The Lab Home screen acts as the central list for patients who have arrived for testing</a:t>
            </a:r>
            <a:endParaRPr lang="en-US" sz="3000" dirty="0">
              <a:effectLst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543708" y="6438900"/>
            <a:ext cx="7583423" cy="833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3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Test Confirmation</a:t>
            </a:r>
            <a:r>
              <a:rPr lang="en-US" sz="2399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 This detail screen allows staff to confirm the requested lab tests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43600" y="3056973"/>
            <a:ext cx="3666628" cy="1866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7"/>
              </a:lnSpc>
              <a:spcBef>
                <a:spcPct val="0"/>
              </a:spcBef>
            </a:pPr>
            <a:r>
              <a:rPr lang="en-US" sz="5275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Initial Patient Intak</a:t>
            </a:r>
            <a:r>
              <a:rPr lang="en-US" sz="5275" u="none" strike="noStrike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 &amp; Test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74183-F564-AA9E-25D0-3F9AC8D13715}"/>
              </a:ext>
            </a:extLst>
          </p:cNvPr>
          <p:cNvSpPr txBox="1"/>
          <p:nvPr/>
        </p:nvSpPr>
        <p:spPr>
          <a:xfrm>
            <a:off x="6128840" y="1406276"/>
            <a:ext cx="4005759" cy="65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47"/>
              </a:lnSpc>
              <a:spcBef>
                <a:spcPct val="0"/>
              </a:spcBef>
            </a:pPr>
            <a:r>
              <a:rPr lang="en-US" sz="5275" b="1" dirty="0">
                <a:solidFill>
                  <a:srgbClr val="3C4B0A"/>
                </a:solidFill>
                <a:latin typeface="Congenial Black" panose="02000503040000020004" pitchFamily="2" charset="0"/>
                <a:ea typeface="Darker Grotesque"/>
                <a:cs typeface="Darker Grotesque"/>
                <a:sym typeface="Darker Grotesque"/>
              </a:rPr>
              <a:t>LAB Screens</a:t>
            </a:r>
            <a:endParaRPr lang="en-US" sz="5275" b="1" u="none" strike="noStrike" dirty="0">
              <a:solidFill>
                <a:srgbClr val="3C4B0A"/>
              </a:solidFill>
              <a:latin typeface="Congenial Black" panose="02000503040000020004" pitchFamily="2" charset="0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0D72D6-AB36-FF06-3F58-AF4B461C3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12" y="418010"/>
            <a:ext cx="4668641" cy="9868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236616-503B-0D7A-E6E6-0FA292BA16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7131" y="422833"/>
            <a:ext cx="5055532" cy="95974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0F7775-FAE0-EF13-A2C5-B5C28123C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740558"/>
            <a:ext cx="1066800" cy="2498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V="1">
            <a:off x="1028700" y="26670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046660" y="840942"/>
            <a:ext cx="5277148" cy="1910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92"/>
              </a:lnSpc>
              <a:spcBef>
                <a:spcPct val="0"/>
              </a:spcBef>
            </a:pPr>
            <a:r>
              <a:rPr lang="en-US" sz="5435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Lab </a:t>
            </a:r>
            <a:r>
              <a:rPr lang="en-US" sz="5435" u="none" strike="noStrike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Action: From Pending List to Data Entry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51953" y="3650151"/>
            <a:ext cx="4350891" cy="53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Pending Test List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15000" y="4997831"/>
            <a:ext cx="6019800" cy="957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 The lab technician clicks on a specific pending test for a patient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99342" y="6901317"/>
            <a:ext cx="4421058" cy="53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Add Test Result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72046" y="7995329"/>
            <a:ext cx="5762754" cy="957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The technician is instantly taken to the 'Add Test Result'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B3040E-3118-761F-07B1-2315D056E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2" y="294842"/>
            <a:ext cx="5379038" cy="97420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66D7A3-CA7D-A8F7-88FC-0A81D90FA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294968"/>
            <a:ext cx="4900152" cy="101025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2741498" y="2902612"/>
            <a:ext cx="4770761" cy="4770761"/>
          </a:xfrm>
          <a:custGeom>
            <a:avLst/>
            <a:gdLst/>
            <a:ahLst/>
            <a:cxnLst/>
            <a:rect l="l" t="t" r="r" b="b"/>
            <a:pathLst>
              <a:path w="4770761" h="4770761">
                <a:moveTo>
                  <a:pt x="0" y="0"/>
                </a:moveTo>
                <a:lnTo>
                  <a:pt x="4770761" y="0"/>
                </a:lnTo>
                <a:lnTo>
                  <a:pt x="4770761" y="4770762"/>
                </a:lnTo>
                <a:lnTo>
                  <a:pt x="0" y="4770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734379" y="3127395"/>
            <a:ext cx="5553621" cy="5553621"/>
          </a:xfrm>
          <a:custGeom>
            <a:avLst/>
            <a:gdLst/>
            <a:ahLst/>
            <a:cxnLst/>
            <a:rect l="l" t="t" r="r" b="b"/>
            <a:pathLst>
              <a:path w="5553621" h="5553621">
                <a:moveTo>
                  <a:pt x="0" y="0"/>
                </a:moveTo>
                <a:lnTo>
                  <a:pt x="5553621" y="0"/>
                </a:lnTo>
                <a:lnTo>
                  <a:pt x="5553621" y="5553620"/>
                </a:lnTo>
                <a:lnTo>
                  <a:pt x="0" y="5553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762000" y="266700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838353" y="571500"/>
            <a:ext cx="4198311" cy="1558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54"/>
              </a:lnSpc>
              <a:spcBef>
                <a:spcPct val="0"/>
              </a:spcBef>
            </a:pPr>
            <a:r>
              <a:rPr lang="en-US" sz="4393" b="1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Centralized Data </a:t>
            </a:r>
            <a:r>
              <a:rPr lang="en-US" sz="4393" b="1" u="none" strike="noStrike" dirty="0">
                <a:solidFill>
                  <a:srgbClr val="3C4B0A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Retrieval &amp; Historical Reporting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33823" y="2992179"/>
            <a:ext cx="3768428" cy="1717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All Records</a:t>
            </a: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 This screen serves as the searchable and filterable index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33648" y="5904205"/>
            <a:ext cx="4088600" cy="258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C4B0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Verification Access</a:t>
            </a:r>
            <a:r>
              <a:rPr lang="en-US" sz="2800" dirty="0">
                <a:solidFill>
                  <a:srgbClr val="3C4B0A"/>
                </a:solidFill>
                <a:latin typeface="Public Sans"/>
                <a:ea typeface="Public Sans"/>
                <a:cs typeface="Public Sans"/>
                <a:sym typeface="Public Sans"/>
              </a:rPr>
              <a:t>: Clicking an entry navigates the user directly to the final, verified diagnostic report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236BE0-DCC3-E69E-36DC-136EEB1EA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2248" y="266700"/>
            <a:ext cx="5080168" cy="98995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7FEA42-EB20-9509-8808-56846ADD75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5" y="374346"/>
            <a:ext cx="4153682" cy="98995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E9C3B5-B3D8-CB29-CCE8-EF719B0781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900" y="387450"/>
            <a:ext cx="4501884" cy="9899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18190" y="-8803099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943222" y="-8803099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297599" y="6091481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19" y="0"/>
                </a:lnTo>
                <a:lnTo>
                  <a:pt x="14139619" y="14139620"/>
                </a:lnTo>
                <a:lnTo>
                  <a:pt x="0" y="14139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6900183" y="-5794416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257155"/>
            <a:ext cx="16230600" cy="0"/>
          </a:xfrm>
          <a:prstGeom prst="line">
            <a:avLst/>
          </a:prstGeom>
          <a:ln w="38100" cap="flat">
            <a:solidFill>
              <a:srgbClr val="3C4B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17"/>
          <p:cNvSpPr txBox="1"/>
          <p:nvPr/>
        </p:nvSpPr>
        <p:spPr>
          <a:xfrm>
            <a:off x="5585974" y="1715842"/>
            <a:ext cx="6414145" cy="142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i="1" dirty="0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Connection-Specific Data Standards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62240" y="321387"/>
            <a:ext cx="7141618" cy="1171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65"/>
              </a:lnSpc>
              <a:spcBef>
                <a:spcPct val="0"/>
              </a:spcBef>
            </a:pPr>
            <a:r>
              <a:rPr lang="en-US" sz="7117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Interface Engine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0E7655-CFDE-5477-F666-801B84B731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88" y="321387"/>
            <a:ext cx="5011855" cy="9851311"/>
          </a:xfrm>
          <a:prstGeom prst="rect">
            <a:avLst/>
          </a:prstGeom>
        </p:spPr>
      </p:pic>
      <p:sp>
        <p:nvSpPr>
          <p:cNvPr id="21" name="TextBox 17">
            <a:extLst>
              <a:ext uri="{FF2B5EF4-FFF2-40B4-BE49-F238E27FC236}">
                <a16:creationId xmlns:a16="http://schemas.microsoft.com/office/drawing/2014/main" id="{B6B61F28-F8E7-08F2-1750-14207884A34F}"/>
              </a:ext>
            </a:extLst>
          </p:cNvPr>
          <p:cNvSpPr txBox="1"/>
          <p:nvPr/>
        </p:nvSpPr>
        <p:spPr>
          <a:xfrm>
            <a:off x="5557243" y="3528055"/>
            <a:ext cx="6414145" cy="63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3100" dirty="0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Dashboard and Server Details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964D9A-94A9-43DC-CA35-B8A4C9D2D2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651" y="251534"/>
            <a:ext cx="4969285" cy="97562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6384" y="190500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4486935A-3ACE-3476-01CC-EEB82D0E623D}"/>
              </a:ext>
            </a:extLst>
          </p:cNvPr>
          <p:cNvSpPr txBox="1"/>
          <p:nvPr/>
        </p:nvSpPr>
        <p:spPr>
          <a:xfrm>
            <a:off x="6247553" y="647700"/>
            <a:ext cx="7316049" cy="553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54"/>
              </a:lnSpc>
              <a:spcBef>
                <a:spcPct val="0"/>
              </a:spcBef>
            </a:pPr>
            <a:r>
              <a:rPr lang="en-US" sz="4393" b="1" u="none" strike="noStrike" dirty="0">
                <a:solidFill>
                  <a:srgbClr val="3C4B0A"/>
                </a:solidFill>
                <a:latin typeface="Congenial Black" panose="02000503040000020004" pitchFamily="2" charset="0"/>
                <a:ea typeface="Darker Grotesque"/>
                <a:cs typeface="Darker Grotesque"/>
                <a:sym typeface="Darker Grotesque"/>
              </a:rPr>
              <a:t>View Channels &amp; Details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62360E06-6516-6571-B371-64BF5AC549BC}"/>
              </a:ext>
            </a:extLst>
          </p:cNvPr>
          <p:cNvSpPr txBox="1"/>
          <p:nvPr/>
        </p:nvSpPr>
        <p:spPr>
          <a:xfrm>
            <a:off x="6184730" y="1485900"/>
            <a:ext cx="6249247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54"/>
              </a:lnSpc>
              <a:spcBef>
                <a:spcPct val="0"/>
              </a:spcBef>
            </a:pPr>
            <a:r>
              <a:rPr lang="en-US" sz="4393" u="none" strike="noStrike" dirty="0" err="1">
                <a:solidFill>
                  <a:srgbClr val="3C4B0A"/>
                </a:solidFill>
                <a:latin typeface="+mj-lt"/>
                <a:ea typeface="Darker Grotesque"/>
                <a:cs typeface="Darker Grotesque"/>
                <a:sym typeface="Darker Grotesque"/>
              </a:rPr>
              <a:t>Channesl</a:t>
            </a:r>
            <a:r>
              <a:rPr lang="en-US" sz="4393" u="none" strike="noStrike" dirty="0">
                <a:solidFill>
                  <a:srgbClr val="3C4B0A"/>
                </a:solidFill>
                <a:latin typeface="+mj-lt"/>
                <a:ea typeface="Darker Grotesque"/>
                <a:cs typeface="Darker Grotesque"/>
                <a:sym typeface="Darker Grotesque"/>
              </a:rPr>
              <a:t> include name, source, destination, msg type and the format </a:t>
            </a:r>
            <a:r>
              <a:rPr lang="en-US" sz="4393" dirty="0">
                <a:solidFill>
                  <a:srgbClr val="3C4B0A"/>
                </a:solidFill>
                <a:latin typeface="+mj-lt"/>
                <a:ea typeface="Darker Grotesque"/>
                <a:cs typeface="Darker Grotesque"/>
                <a:sym typeface="Darker Grotesque"/>
              </a:rPr>
              <a:t>(convert FHIR to Hl7 or Hl7 to FHIR) </a:t>
            </a:r>
            <a:endParaRPr lang="en-US" sz="4393" u="none" strike="noStrike" dirty="0">
              <a:solidFill>
                <a:srgbClr val="3C4B0A"/>
              </a:solidFill>
              <a:latin typeface="+mj-lt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FCAEDB-991C-7F55-F7E5-EA1C22C58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190500"/>
            <a:ext cx="4876800" cy="99850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D4B497-8DB4-4FC5-2A15-8C5B71A53D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39545"/>
            <a:ext cx="4322729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DDB7B-D9B3-6E09-52E4-FBD570D9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83A20F-9FFF-4ED5-D443-B73982B08966}"/>
              </a:ext>
            </a:extLst>
          </p:cNvPr>
          <p:cNvSpPr/>
          <p:nvPr/>
        </p:nvSpPr>
        <p:spPr>
          <a:xfrm>
            <a:off x="8296384" y="190500"/>
            <a:ext cx="14139619" cy="14139619"/>
          </a:xfrm>
          <a:custGeom>
            <a:avLst/>
            <a:gdLst/>
            <a:ahLst/>
            <a:cxnLst/>
            <a:rect l="l" t="t" r="r" b="b"/>
            <a:pathLst>
              <a:path w="14139619" h="14139619">
                <a:moveTo>
                  <a:pt x="0" y="0"/>
                </a:moveTo>
                <a:lnTo>
                  <a:pt x="14139620" y="0"/>
                </a:lnTo>
                <a:lnTo>
                  <a:pt x="14139620" y="14139619"/>
                </a:lnTo>
                <a:lnTo>
                  <a:pt x="0" y="14139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228CD6B2-B6B7-EE60-DD5D-EA66C4CEAB90}"/>
              </a:ext>
            </a:extLst>
          </p:cNvPr>
          <p:cNvSpPr txBox="1"/>
          <p:nvPr/>
        </p:nvSpPr>
        <p:spPr>
          <a:xfrm>
            <a:off x="6247553" y="647700"/>
            <a:ext cx="6249247" cy="553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54"/>
              </a:lnSpc>
              <a:spcBef>
                <a:spcPct val="0"/>
              </a:spcBef>
            </a:pPr>
            <a:r>
              <a:rPr lang="en-US" sz="4393" b="1" u="none" strike="noStrike" dirty="0">
                <a:solidFill>
                  <a:srgbClr val="3C4B0A"/>
                </a:solidFill>
                <a:latin typeface="Congenial Black" panose="02000503040000020004" pitchFamily="2" charset="0"/>
                <a:ea typeface="Darker Grotesque"/>
                <a:cs typeface="Darker Grotesque"/>
                <a:sym typeface="Darker Grotesque"/>
              </a:rPr>
              <a:t>Add Server &amp; Route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EB327544-BCB1-B7D8-BA91-079DCA4C63A6}"/>
              </a:ext>
            </a:extLst>
          </p:cNvPr>
          <p:cNvSpPr txBox="1"/>
          <p:nvPr/>
        </p:nvSpPr>
        <p:spPr>
          <a:xfrm>
            <a:off x="6184730" y="1485900"/>
            <a:ext cx="6249247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54"/>
              </a:lnSpc>
              <a:spcBef>
                <a:spcPct val="0"/>
              </a:spcBef>
            </a:pPr>
            <a:r>
              <a:rPr lang="en-US" sz="4393" u="none" strike="noStrike" dirty="0">
                <a:solidFill>
                  <a:srgbClr val="3C4B0A"/>
                </a:solidFill>
                <a:latin typeface="+mj-lt"/>
                <a:ea typeface="Darker Grotesque"/>
                <a:cs typeface="Darker Grotesque"/>
                <a:sym typeface="Darker Grotesque"/>
              </a:rPr>
              <a:t>Add Sever takes server IP, port, connection string and a unique name with the protocol that is use by the server.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7141F-8C56-2FCD-A2DE-066222BA4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8270"/>
            <a:ext cx="5231746" cy="10158730"/>
          </a:xfrm>
          <a:prstGeom prst="rect">
            <a:avLst/>
          </a:prstGeom>
        </p:spPr>
      </p:pic>
      <p:sp>
        <p:nvSpPr>
          <p:cNvPr id="8" name="TextBox 15">
            <a:extLst>
              <a:ext uri="{FF2B5EF4-FFF2-40B4-BE49-F238E27FC236}">
                <a16:creationId xmlns:a16="http://schemas.microsoft.com/office/drawing/2014/main" id="{6C159FA4-A3F2-B15D-09EC-1647CA732DD6}"/>
              </a:ext>
            </a:extLst>
          </p:cNvPr>
          <p:cNvSpPr txBox="1"/>
          <p:nvPr/>
        </p:nvSpPr>
        <p:spPr>
          <a:xfrm>
            <a:off x="6218188" y="5318999"/>
            <a:ext cx="6249247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54"/>
              </a:lnSpc>
              <a:spcBef>
                <a:spcPct val="0"/>
              </a:spcBef>
            </a:pPr>
            <a:r>
              <a:rPr lang="en-US" sz="4393" u="none" strike="noStrike" dirty="0">
                <a:solidFill>
                  <a:srgbClr val="3C4B0A"/>
                </a:solidFill>
                <a:latin typeface="+mj-lt"/>
                <a:ea typeface="Darker Grotesque"/>
                <a:cs typeface="Darker Grotesque"/>
                <a:sym typeface="Darker Grotesque"/>
              </a:rPr>
              <a:t>Add Route takes a Route name, and the source and destination server from the drop down. </a:t>
            </a:r>
            <a:r>
              <a:rPr lang="en-US" sz="4393" dirty="0">
                <a:solidFill>
                  <a:srgbClr val="3C4B0A"/>
                </a:solidFill>
                <a:latin typeface="+mj-lt"/>
                <a:ea typeface="Darker Grotesque"/>
                <a:cs typeface="Darker Grotesque"/>
                <a:sym typeface="Darker Grotesque"/>
              </a:rPr>
              <a:t>Also the Msg type that the route uses.</a:t>
            </a:r>
            <a:endParaRPr lang="en-US" sz="4393" u="none" strike="noStrike" dirty="0">
              <a:solidFill>
                <a:srgbClr val="3C4B0A"/>
              </a:solidFill>
              <a:latin typeface="+mj-lt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CF85F-EACE-1AF6-C1D5-5EF9E64B96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846" y="0"/>
            <a:ext cx="413775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19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963400" y="342900"/>
            <a:ext cx="5410200" cy="773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b="1" i="1" dirty="0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Message Logs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25454" y="7200900"/>
            <a:ext cx="4800600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Show All the logs from the Engine, so that the user can easily identify the issue on the frontend, if there is any.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4B1674-9F55-AC80-78C8-AA3A2F99B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9667"/>
            <a:ext cx="5168254" cy="10158730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BEA4B39F-FFB8-7444-E290-F68850654803}"/>
              </a:ext>
            </a:extLst>
          </p:cNvPr>
          <p:cNvSpPr txBox="1"/>
          <p:nvPr/>
        </p:nvSpPr>
        <p:spPr>
          <a:xfrm>
            <a:off x="11680723" y="1454796"/>
            <a:ext cx="4491674" cy="1457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Show log details, like the Mapping, hl7 and the FHIR message.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AB0FC3-676F-6EB1-54D3-6778D6FCC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2912696"/>
            <a:ext cx="4876800" cy="73092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10B2FB-4873-84EB-1534-1BD9E32BA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309" y="119667"/>
            <a:ext cx="4491674" cy="6500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AB8C85-FDF2-622E-14DA-47242AAC5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0723" y="5358780"/>
            <a:ext cx="4876800" cy="36930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058751" y="723900"/>
            <a:ext cx="7592878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PHR (Personal Health Record)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0" y="2019300"/>
            <a:ext cx="6461153" cy="195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Signup: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Patient will provide his </a:t>
            </a:r>
            <a:r>
              <a:rPr lang="en-US" sz="2800" dirty="0" err="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nic</a:t>
            </a:r>
            <a:r>
              <a:rPr lang="en-US" sz="28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and password, if the </a:t>
            </a:r>
            <a:r>
              <a:rPr lang="en-US" sz="2800" dirty="0" err="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nic</a:t>
            </a:r>
            <a:r>
              <a:rPr lang="en-US" sz="28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already exists, then the account will be activated.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8031EC-1438-6AE7-3510-F17CA6933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23266"/>
            <a:ext cx="4478702" cy="99526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2D4B40-E68B-CCCB-7483-7C51D2D55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3079" y="100313"/>
            <a:ext cx="4571428" cy="10158730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0766992A-7B4C-26DD-7D97-16B805956CF9}"/>
              </a:ext>
            </a:extLst>
          </p:cNvPr>
          <p:cNvSpPr txBox="1"/>
          <p:nvPr/>
        </p:nvSpPr>
        <p:spPr>
          <a:xfrm>
            <a:off x="5486399" y="4320583"/>
            <a:ext cx="6461153" cy="145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Login: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After login, Patient can access his own data.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34000" y="114300"/>
            <a:ext cx="6781800" cy="1019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 b="1" i="1" dirty="0">
                <a:solidFill>
                  <a:srgbClr val="3C4B0A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PHR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F2E3B-13AF-15BA-9943-2CC3A165A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2288"/>
            <a:ext cx="4572235" cy="10160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44B066-58E9-B69A-8D68-95105C78D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200" y="125360"/>
            <a:ext cx="4912205" cy="9742539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333362C3-45A6-331A-661C-9AFF2E7A68E8}"/>
              </a:ext>
            </a:extLst>
          </p:cNvPr>
          <p:cNvSpPr/>
          <p:nvPr/>
        </p:nvSpPr>
        <p:spPr>
          <a:xfrm rot="10800000" flipV="1">
            <a:off x="4953235" y="2671724"/>
            <a:ext cx="1447800" cy="752649"/>
          </a:xfrm>
          <a:custGeom>
            <a:avLst/>
            <a:gdLst/>
            <a:ahLst/>
            <a:cxnLst/>
            <a:rect l="l" t="t" r="r" b="b"/>
            <a:pathLst>
              <a:path w="1823467" h="828849">
                <a:moveTo>
                  <a:pt x="0" y="828849"/>
                </a:moveTo>
                <a:lnTo>
                  <a:pt x="1823467" y="828849"/>
                </a:lnTo>
                <a:lnTo>
                  <a:pt x="1823467" y="0"/>
                </a:lnTo>
                <a:lnTo>
                  <a:pt x="0" y="0"/>
                </a:lnTo>
                <a:lnTo>
                  <a:pt x="0" y="828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485EAA-B515-A525-3270-51C88A226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1035" y="2404582"/>
            <a:ext cx="5943600" cy="11553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dashboard contains all the doctors that the patient visited.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AAF0E-F4FF-D781-C112-44F5E1EC7A2F}"/>
              </a:ext>
            </a:extLst>
          </p:cNvPr>
          <p:cNvSpPr txBox="1"/>
          <p:nvPr/>
        </p:nvSpPr>
        <p:spPr>
          <a:xfrm>
            <a:off x="5486400" y="4626626"/>
            <a:ext cx="6858235" cy="111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200" b="1" i="1" dirty="0">
                <a:solidFill>
                  <a:srgbClr val="3C4B0A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View Doctor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40B70387-EC54-C0F8-246D-5F3DCE25DFE2}"/>
              </a:ext>
            </a:extLst>
          </p:cNvPr>
          <p:cNvSpPr txBox="1">
            <a:spLocks/>
          </p:cNvSpPr>
          <p:nvPr/>
        </p:nvSpPr>
        <p:spPr>
          <a:xfrm>
            <a:off x="5334000" y="5715002"/>
            <a:ext cx="5943600" cy="312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5FFDE0A0-2307-10A0-96FA-0749036D4145}"/>
              </a:ext>
            </a:extLst>
          </p:cNvPr>
          <p:cNvSpPr txBox="1">
            <a:spLocks/>
          </p:cNvSpPr>
          <p:nvPr/>
        </p:nvSpPr>
        <p:spPr>
          <a:xfrm>
            <a:off x="5481484" y="6110086"/>
            <a:ext cx="5943600" cy="18113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When clicking on the Doctor, it will open a page, where you can see the Doctor details and all the visiting notes with that doctor.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5899F0E-7A04-C1C1-7086-8013C8B6B176}"/>
              </a:ext>
            </a:extLst>
          </p:cNvPr>
          <p:cNvSpPr/>
          <p:nvPr/>
        </p:nvSpPr>
        <p:spPr>
          <a:xfrm rot="204195" flipV="1">
            <a:off x="11318269" y="6240580"/>
            <a:ext cx="1718336" cy="910119"/>
          </a:xfrm>
          <a:custGeom>
            <a:avLst/>
            <a:gdLst/>
            <a:ahLst/>
            <a:cxnLst/>
            <a:rect l="l" t="t" r="r" b="b"/>
            <a:pathLst>
              <a:path w="1823467" h="828849">
                <a:moveTo>
                  <a:pt x="0" y="828849"/>
                </a:moveTo>
                <a:lnTo>
                  <a:pt x="1823467" y="828849"/>
                </a:lnTo>
                <a:lnTo>
                  <a:pt x="1823467" y="0"/>
                </a:lnTo>
                <a:lnTo>
                  <a:pt x="0" y="0"/>
                </a:lnTo>
                <a:lnTo>
                  <a:pt x="0" y="8288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E7D29-425E-9C31-34BC-B5D273A9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EC01DD4-AE4A-B924-401B-43139E8C253E}"/>
              </a:ext>
            </a:extLst>
          </p:cNvPr>
          <p:cNvSpPr txBox="1"/>
          <p:nvPr/>
        </p:nvSpPr>
        <p:spPr>
          <a:xfrm>
            <a:off x="5334000" y="114300"/>
            <a:ext cx="6781800" cy="1019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 b="1" i="1" dirty="0">
                <a:solidFill>
                  <a:srgbClr val="3C4B0A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Visit Note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F53531E5-9685-48A7-2B1B-A9C8F971C4C0}"/>
              </a:ext>
            </a:extLst>
          </p:cNvPr>
          <p:cNvSpPr/>
          <p:nvPr/>
        </p:nvSpPr>
        <p:spPr>
          <a:xfrm rot="10800000" flipV="1">
            <a:off x="4991570" y="2677832"/>
            <a:ext cx="1447800" cy="752649"/>
          </a:xfrm>
          <a:custGeom>
            <a:avLst/>
            <a:gdLst/>
            <a:ahLst/>
            <a:cxnLst/>
            <a:rect l="l" t="t" r="r" b="b"/>
            <a:pathLst>
              <a:path w="1823467" h="828849">
                <a:moveTo>
                  <a:pt x="0" y="828849"/>
                </a:moveTo>
                <a:lnTo>
                  <a:pt x="1823467" y="828849"/>
                </a:lnTo>
                <a:lnTo>
                  <a:pt x="1823467" y="0"/>
                </a:lnTo>
                <a:lnTo>
                  <a:pt x="0" y="0"/>
                </a:lnTo>
                <a:lnTo>
                  <a:pt x="0" y="8288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0897EE-86A4-755F-34E1-0FC9164F0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1035" y="2404582"/>
            <a:ext cx="5943600" cy="17700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When clicked on visit note, it will show all the note details with the proper lab reports associated with that visit note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83C9CD-D5BC-33F9-D3F2-ACA0F2673FA8}"/>
              </a:ext>
            </a:extLst>
          </p:cNvPr>
          <p:cNvSpPr txBox="1"/>
          <p:nvPr/>
        </p:nvSpPr>
        <p:spPr>
          <a:xfrm>
            <a:off x="5486400" y="4626626"/>
            <a:ext cx="6858235" cy="111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200" b="1" i="1" dirty="0">
                <a:solidFill>
                  <a:srgbClr val="3C4B0A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View Report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8C211865-43CA-8F76-2088-52112216E3A3}"/>
              </a:ext>
            </a:extLst>
          </p:cNvPr>
          <p:cNvSpPr txBox="1">
            <a:spLocks/>
          </p:cNvSpPr>
          <p:nvPr/>
        </p:nvSpPr>
        <p:spPr>
          <a:xfrm>
            <a:off x="5334000" y="5715002"/>
            <a:ext cx="5943600" cy="312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8D5C47F1-5637-9DEC-E196-F8BBBD507F22}"/>
              </a:ext>
            </a:extLst>
          </p:cNvPr>
          <p:cNvSpPr txBox="1">
            <a:spLocks/>
          </p:cNvSpPr>
          <p:nvPr/>
        </p:nvSpPr>
        <p:spPr>
          <a:xfrm>
            <a:off x="6172200" y="6190379"/>
            <a:ext cx="5943600" cy="1811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Patient can view his own Test Reports as well.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387E2089-3972-E869-7BCC-382BA2DD6792}"/>
              </a:ext>
            </a:extLst>
          </p:cNvPr>
          <p:cNvSpPr/>
          <p:nvPr/>
        </p:nvSpPr>
        <p:spPr>
          <a:xfrm rot="204195" flipV="1">
            <a:off x="11318269" y="6240580"/>
            <a:ext cx="1718336" cy="910119"/>
          </a:xfrm>
          <a:custGeom>
            <a:avLst/>
            <a:gdLst/>
            <a:ahLst/>
            <a:cxnLst/>
            <a:rect l="l" t="t" r="r" b="b"/>
            <a:pathLst>
              <a:path w="1823467" h="828849">
                <a:moveTo>
                  <a:pt x="0" y="828849"/>
                </a:moveTo>
                <a:lnTo>
                  <a:pt x="1823467" y="828849"/>
                </a:lnTo>
                <a:lnTo>
                  <a:pt x="1823467" y="0"/>
                </a:lnTo>
                <a:lnTo>
                  <a:pt x="0" y="0"/>
                </a:lnTo>
                <a:lnTo>
                  <a:pt x="0" y="8288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E91C74-BEB3-5D6E-6598-F9429CE12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4648" y="0"/>
            <a:ext cx="4816517" cy="10287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8C3EE7-AADC-B7C2-7231-F7767C4480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65" y="118891"/>
            <a:ext cx="4572235" cy="953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211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0" y="266700"/>
            <a:ext cx="4648200" cy="915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 i="1" dirty="0">
                <a:solidFill>
                  <a:srgbClr val="3C4B0A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PHR Profile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F874F-5598-AC8F-1D4A-F01C87DF4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52500"/>
            <a:ext cx="4648200" cy="9218930"/>
          </a:xfrm>
          <a:prstGeom prst="rect">
            <a:avLst/>
          </a:prstGeom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1F133DAD-BDED-8D06-385F-DD3F3F91F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9400" y="23241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rgbClr val="3C4B0A"/>
                </a:solidFill>
              </a:rPr>
              <a:t>Profile section show patient’s info like name, age, gender, </a:t>
            </a:r>
            <a:r>
              <a:rPr lang="en-US" dirty="0" err="1">
                <a:solidFill>
                  <a:srgbClr val="3C4B0A"/>
                </a:solidFill>
              </a:rPr>
              <a:t>nic</a:t>
            </a:r>
            <a:r>
              <a:rPr lang="en-US" dirty="0">
                <a:solidFill>
                  <a:srgbClr val="3C4B0A"/>
                </a:solidFill>
              </a:rPr>
              <a:t> and address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D216E-8841-4C41-FA99-7C4C4494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5232785-E154-8BDE-A523-02C7AA6491F4}"/>
              </a:ext>
            </a:extLst>
          </p:cNvPr>
          <p:cNvSpPr txBox="1"/>
          <p:nvPr/>
        </p:nvSpPr>
        <p:spPr>
          <a:xfrm>
            <a:off x="6096000" y="4109168"/>
            <a:ext cx="5791200" cy="1033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9600" b="1" i="1" dirty="0">
                <a:solidFill>
                  <a:srgbClr val="3C4B0A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97756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750</Words>
  <Application>Microsoft Office PowerPoint</Application>
  <PresentationFormat>Custom</PresentationFormat>
  <Paragraphs>93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Darker Grotesque</vt:lpstr>
      <vt:lpstr>Calibri</vt:lpstr>
      <vt:lpstr>Public Sans Bold Italics</vt:lpstr>
      <vt:lpstr>Congenial Black</vt:lpstr>
      <vt:lpstr>Canva Sans</vt:lpstr>
      <vt:lpstr>Canva Sans Bold</vt:lpstr>
      <vt:lpstr>Public Sans Bold</vt:lpstr>
      <vt:lpstr>Public Sans Italics</vt:lpstr>
      <vt:lpstr>Arial</vt:lpstr>
      <vt:lpstr>Public Sans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Radiation Therapy Slides</dc:title>
  <dc:creator>Muhammad Saad</dc:creator>
  <cp:lastModifiedBy>Muhammad Saad</cp:lastModifiedBy>
  <cp:revision>41</cp:revision>
  <dcterms:created xsi:type="dcterms:W3CDTF">2006-08-16T00:00:00Z</dcterms:created>
  <dcterms:modified xsi:type="dcterms:W3CDTF">2026-02-23T08:59:42Z</dcterms:modified>
  <dc:identifier>DAG6FQhBUes</dc:identifier>
</cp:coreProperties>
</file>